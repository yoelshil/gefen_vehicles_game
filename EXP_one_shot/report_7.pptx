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2" r:id="rId4"/>
    <p:sldId id="272" r:id="rId5"/>
    <p:sldId id="270" r:id="rId6"/>
    <p:sldId id="271" r:id="rId7"/>
    <p:sldId id="260" r:id="rId8"/>
    <p:sldId id="277" r:id="rId9"/>
    <p:sldId id="259" r:id="rId10"/>
    <p:sldId id="274" r:id="rId11"/>
    <p:sldId id="269" r:id="rId12"/>
    <p:sldId id="275" r:id="rId13"/>
    <p:sldId id="276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E3455-9EF0-49A9-A47C-8203DE5DA432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62884-3814-467D-9044-E5E39B0A146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92787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62884-3814-467D-9044-E5E39B0A146B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0554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7F82-8711-BEDA-36A7-27CC0D734D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44578-D14E-3FEF-508E-1AB79619C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9F9F0-F82D-1972-8AB4-67288CDFC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230EC-0A6F-27C8-1B36-3033980BB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42420-1BD9-45F2-7F5A-12D0098A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2743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A9F6D-DA1C-9550-2890-0B283C24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A4349-08D4-0417-5C09-FFEE9C4CD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0DF06-0007-E964-EAD4-28D19E8B9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398AC-C237-03CF-47B7-66411701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5A9FA-62C8-99DE-7ABF-38322350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22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2B94-6176-B2D7-8D19-A0DC9FB62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52C79-0013-6869-02DE-E262278AB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4A77F-C740-4735-9853-FD6E4739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FC33E-4557-AD66-A759-5D4D91B50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D7D2-BE55-3EDC-DA7F-E34DAB5F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7363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2580C-3AA4-7A3D-F96F-823477E0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EAEB5-3A54-2D6B-B625-F8C3E507B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0CDAD-4B35-5829-4F63-27CA46A9D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9FDF8-7B03-0F55-F2A7-D087D6FB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76D0C-B070-35E5-C7B4-F538583E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D8EA9-E80D-E2EE-2348-092893A9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865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65D31-1724-2D66-D477-19B34735D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AB502-376B-32AE-F6E1-C472BA814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05D59F-449C-9921-5961-2C0DCBD23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4C1687-94B7-8C49-ECB5-DB1F0E756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5CEC6-34CE-D117-1C35-1FE411264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1D2150-EED9-5E30-62AA-1A41441A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592B23-4A00-1F45-F98E-5EE79178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B2658F-21F1-7DA2-3629-EC9582FF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7315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286E-0FB3-1108-5C5B-3382665E3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E2369A-F9E0-060F-A072-D9DEA2416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5D95AC-C8B1-C15B-E552-E9636F9B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A6C87-D9D5-1B88-AC2A-C8A7BAB4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9562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C82F0-AFD9-3CBA-5B42-D6CEA625D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45217-ABDF-6DBE-DD5C-537A4669E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39678-43EB-7C13-8A93-36C9D657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70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0466-A317-7412-0A16-F74540C1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7C1B4-5BD7-75A9-07DF-34084F160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3B303-8D17-94CE-5BA0-581D2C006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3CB35-C738-C50D-58F0-5CEA59AB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3A105-CDCB-9E5C-533A-E71481CE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1C89A-7FD0-9B4B-5736-9E3C6C82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7925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70E9A-1BD8-4EE7-699F-47B3C572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D1736-9794-F490-7564-ABBFDD1C5A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3F267-569D-D105-CE0A-20976FA18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27C08-693F-2550-A7D5-06A1B200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EB671-944C-94F3-9E42-C783E0BA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39C1B-E16A-9956-CC10-46DB766B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0019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1F389-1300-267B-CF6E-1FF44CBE0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2F506-A79E-84DC-C6E3-7B1ACA9A6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AF6D-F6BA-1BF6-579D-DE1272D9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B41DC-E42A-C8A2-9A8E-85D89C962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0F9CE-7E49-9BBF-3644-4FA2256D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797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E0C19-3E49-6D71-BCA1-37C478283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BA8D8A-6B79-B5B0-0B2E-CE4A24BEE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7C8E7-8D66-FDB9-49FE-5B7E1834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0659D-5AD8-2768-D838-3076AD96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B6100-3448-88EB-206B-FFF307C6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16540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D5F221-465F-E1BF-94EE-DFB7E2BE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DAED2-31AC-70BB-B200-2361583F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86A41-719B-C3A9-37D6-4A51BD2A6D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EDB6D-7C77-42E7-90DF-A390D804DA31}" type="datetimeFigureOut">
              <a:rPr lang="en-IL" smtClean="0"/>
              <a:t>02/06/2026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0C9E-6E7D-D5A1-9826-2D468D0FC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E63AF-AC81-1528-66BD-E71386DF2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6B2A3-023A-4915-A1BB-91A5D90B388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2165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72A3-37B3-7A8E-9A58-7516E5659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Distributional Reinforcement Learning  </a:t>
            </a:r>
            <a:br>
              <a:rPr lang="en-US" b="1" dirty="0"/>
            </a:br>
            <a:r>
              <a:rPr lang="en-US" b="1" dirty="0"/>
              <a:t>Prior + One-shot Learning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F179F-1705-3301-E148-EE431FDD9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9461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FD09-7C72-E535-46AE-F4327143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4FD6-6F68-084B-29C6-81C9C722E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355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EXP</a:t>
            </a:r>
            <a:r>
              <a:rPr lang="en-IL" dirty="0"/>
              <a:t> </a:t>
            </a:r>
            <a:r>
              <a:rPr lang="en-US" dirty="0"/>
              <a:t>design: </a:t>
            </a:r>
            <a:br>
              <a:rPr lang="en-US" dirty="0"/>
            </a:br>
            <a:br>
              <a:rPr lang="en-IL" b="1" dirty="0"/>
            </a:br>
            <a:endParaRPr lang="en-I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745D02-66B9-F3C4-73FF-3BAEFDAE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00" y="447784"/>
            <a:ext cx="11309799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Tested participants’ (N=30):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Prior of a frequency distribution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600" dirty="0"/>
              <a:t>Whether they can extract a frequency distribution [1,1,4,6] from 1-2 brief visual exposures in a generation task.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Participants estimated the frequency distribution of 4 visual items across 12 positions [1,1,4,6] </a:t>
            </a:r>
            <a:br>
              <a:rPr lang="en-US" sz="1600" dirty="0"/>
            </a:br>
            <a:r>
              <a:rPr lang="en-US" sz="1600" dirty="0"/>
              <a:t>using a generation task.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/>
              <a:t>Primary DV: Sum of Absolute Deviations (SAD) from the true distribution.</a:t>
            </a:r>
            <a:endParaRPr lang="en-IL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81424F-E841-FCD4-1FB2-DB677CC483BF}"/>
              </a:ext>
            </a:extLst>
          </p:cNvPr>
          <p:cNvGrpSpPr/>
          <p:nvPr/>
        </p:nvGrpSpPr>
        <p:grpSpPr>
          <a:xfrm>
            <a:off x="649514" y="2612571"/>
            <a:ext cx="10972800" cy="3786302"/>
            <a:chOff x="384048" y="1417320"/>
            <a:chExt cx="11430000" cy="4224528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AFAA716-9BA6-FC3A-A9A2-9CCACA2399D3}"/>
                </a:ext>
              </a:extLst>
            </p:cNvPr>
            <p:cNvSpPr/>
            <p:nvPr/>
          </p:nvSpPr>
          <p:spPr>
            <a:xfrm>
              <a:off x="384048" y="1417320"/>
              <a:ext cx="5532120" cy="4224528"/>
            </a:xfrm>
            <a:prstGeom prst="roundRect">
              <a:avLst>
                <a:gd name="adj" fmla="val 4000"/>
              </a:avLst>
            </a:prstGeom>
            <a:solidFill>
              <a:srgbClr val="F5F6F8"/>
            </a:solidFill>
            <a:ln w="12700">
              <a:solidFill>
                <a:srgbClr val="D0D5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7D3648-5E9D-EB8E-EF50-369DEA8B6D25}"/>
                </a:ext>
              </a:extLst>
            </p:cNvPr>
            <p:cNvSpPr txBox="1"/>
            <p:nvPr/>
          </p:nvSpPr>
          <p:spPr>
            <a:xfrm>
              <a:off x="521207" y="1490472"/>
              <a:ext cx="5257800" cy="365760"/>
            </a:xfrm>
            <a:prstGeom prst="rect">
              <a:avLst/>
            </a:prstGeom>
            <a:noFill/>
          </p:spPr>
          <p:txBody>
            <a:bodyPr wrap="square" lIns="109728" tIns="54864" rIns="109728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300" b="1">
                  <a:solidFill>
                    <a:srgbClr val="666666"/>
                  </a:solidFill>
                  <a:latin typeface="Calibri"/>
                </a:rPr>
                <a:t>PRIOR  ·  no feedback</a:t>
              </a:r>
            </a:p>
          </p:txBody>
        </p:sp>
        <p:sp>
          <p:nvSpPr>
            <p:cNvPr id="7" name="Rounded Rectangle 5">
              <a:extLst>
                <a:ext uri="{FF2B5EF4-FFF2-40B4-BE49-F238E27FC236}">
                  <a16:creationId xmlns:a16="http://schemas.microsoft.com/office/drawing/2014/main" id="{54A85245-DDEA-1B30-CB92-2D320AC49857}"/>
                </a:ext>
              </a:extLst>
            </p:cNvPr>
            <p:cNvSpPr/>
            <p:nvPr/>
          </p:nvSpPr>
          <p:spPr>
            <a:xfrm>
              <a:off x="6281928" y="1417320"/>
              <a:ext cx="5532120" cy="4224528"/>
            </a:xfrm>
            <a:prstGeom prst="roundRect">
              <a:avLst>
                <a:gd name="adj" fmla="val 4000"/>
              </a:avLst>
            </a:prstGeom>
            <a:solidFill>
              <a:srgbClr val="F5F6F8"/>
            </a:solidFill>
            <a:ln w="12700">
              <a:solidFill>
                <a:srgbClr val="D0D5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1C53D77-F23E-0255-A399-D8EF0AF91530}"/>
                </a:ext>
              </a:extLst>
            </p:cNvPr>
            <p:cNvSpPr txBox="1"/>
            <p:nvPr/>
          </p:nvSpPr>
          <p:spPr>
            <a:xfrm>
              <a:off x="6419088" y="1490472"/>
              <a:ext cx="5257800" cy="365760"/>
            </a:xfrm>
            <a:prstGeom prst="rect">
              <a:avLst/>
            </a:prstGeom>
            <a:noFill/>
          </p:spPr>
          <p:txBody>
            <a:bodyPr wrap="square" lIns="109728" tIns="54864" rIns="109728" bIns="54864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400"/>
                </a:spcAft>
              </a:pPr>
              <a:r>
                <a:rPr sz="1300" b="1">
                  <a:solidFill>
                    <a:srgbClr val="666666"/>
                  </a:solidFill>
                  <a:latin typeface="Calibri"/>
                </a:rPr>
                <a:t>LEARNING  ·  array exposure + feedback</a:t>
              </a:r>
            </a:p>
          </p:txBody>
        </p:sp>
        <p:sp>
          <p:nvSpPr>
            <p:cNvPr id="9" name="Rounded Rectangle 7">
              <a:extLst>
                <a:ext uri="{FF2B5EF4-FFF2-40B4-BE49-F238E27FC236}">
                  <a16:creationId xmlns:a16="http://schemas.microsoft.com/office/drawing/2014/main" id="{102B27AB-F88B-CDD1-0480-02499BB47367}"/>
                </a:ext>
              </a:extLst>
            </p:cNvPr>
            <p:cNvSpPr/>
            <p:nvPr/>
          </p:nvSpPr>
          <p:spPr>
            <a:xfrm>
              <a:off x="521207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E8DEFD"/>
            </a:solidFill>
            <a:ln w="19050">
              <a:solidFill>
                <a:srgbClr val="8B5C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Provide prior distribution counts for 4 items.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No additional information shown.</a:t>
              </a:r>
            </a:p>
          </p:txBody>
        </p:sp>
        <p:sp>
          <p:nvSpPr>
            <p:cNvPr id="10" name="Rounded Rectangle 8">
              <a:extLst>
                <a:ext uri="{FF2B5EF4-FFF2-40B4-BE49-F238E27FC236}">
                  <a16:creationId xmlns:a16="http://schemas.microsoft.com/office/drawing/2014/main" id="{55A21475-A3A4-5B15-0793-440E7CEEB18E}"/>
                </a:ext>
              </a:extLst>
            </p:cNvPr>
            <p:cNvSpPr/>
            <p:nvPr/>
          </p:nvSpPr>
          <p:spPr>
            <a:xfrm>
              <a:off x="521207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8B5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 dirty="0">
                  <a:solidFill>
                    <a:srgbClr val="FFFFFF"/>
                  </a:solidFill>
                  <a:latin typeface="Calibri"/>
                </a:rPr>
                <a:t>Blind Prior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E422082-3F45-11D9-7B50-E639CB4B67BC}"/>
                </a:ext>
              </a:extLst>
            </p:cNvPr>
            <p:cNvSpPr/>
            <p:nvPr/>
          </p:nvSpPr>
          <p:spPr>
            <a:xfrm>
              <a:off x="66751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8B5CF6"/>
                  </a:solidFill>
                  <a:latin typeface="Calibri"/>
                </a:rPr>
                <a:t>1</a:t>
              </a:r>
            </a:p>
          </p:txBody>
        </p:sp>
        <p:sp>
          <p:nvSpPr>
            <p:cNvPr id="12" name="Rounded Rectangle 10">
              <a:extLst>
                <a:ext uri="{FF2B5EF4-FFF2-40B4-BE49-F238E27FC236}">
                  <a16:creationId xmlns:a16="http://schemas.microsoft.com/office/drawing/2014/main" id="{2C4B34B9-214F-AADE-A624-437850F35604}"/>
                </a:ext>
              </a:extLst>
            </p:cNvPr>
            <p:cNvSpPr/>
            <p:nvPr/>
          </p:nvSpPr>
          <p:spPr>
            <a:xfrm>
              <a:off x="3310128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D8E6FD"/>
            </a:solidFill>
            <a:ln w="19050">
              <a:solidFill>
                <a:srgbClr val="3B82F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Provide prior counts for 4 items.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Item shapes visible — no sample of the distribution shown.</a:t>
              </a:r>
            </a:p>
          </p:txBody>
        </p:sp>
        <p:sp>
          <p:nvSpPr>
            <p:cNvPr id="13" name="Rounded Rectangle 11">
              <a:extLst>
                <a:ext uri="{FF2B5EF4-FFF2-40B4-BE49-F238E27FC236}">
                  <a16:creationId xmlns:a16="http://schemas.microsoft.com/office/drawing/2014/main" id="{F32E7175-01EF-AB57-DEDE-476C57650F6E}"/>
                </a:ext>
              </a:extLst>
            </p:cNvPr>
            <p:cNvSpPr/>
            <p:nvPr/>
          </p:nvSpPr>
          <p:spPr>
            <a:xfrm>
              <a:off x="3310128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3B82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Icon Prior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CB6BCB6-3963-92C6-DAF3-4FDE205009A6}"/>
                </a:ext>
              </a:extLst>
            </p:cNvPr>
            <p:cNvSpPr/>
            <p:nvPr/>
          </p:nvSpPr>
          <p:spPr>
            <a:xfrm>
              <a:off x="345643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3B82F6"/>
                  </a:solidFill>
                  <a:latin typeface="Calibri"/>
                </a:rPr>
                <a:t>2</a:t>
              </a:r>
            </a:p>
          </p:txBody>
        </p:sp>
        <p:sp>
          <p:nvSpPr>
            <p:cNvPr id="15" name="Rounded Rectangle 13">
              <a:extLst>
                <a:ext uri="{FF2B5EF4-FFF2-40B4-BE49-F238E27FC236}">
                  <a16:creationId xmlns:a16="http://schemas.microsoft.com/office/drawing/2014/main" id="{4FB401C0-E266-FDF8-C222-7A8D2CF5FBD6}"/>
                </a:ext>
              </a:extLst>
            </p:cNvPr>
            <p:cNvSpPr/>
            <p:nvPr/>
          </p:nvSpPr>
          <p:spPr>
            <a:xfrm>
              <a:off x="6419088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FEE3D0"/>
            </a:solidFill>
            <a:ln w="19050">
              <a:solidFill>
                <a:srgbClr val="F9731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Array exposure → generation.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Feedback: Sum-Average SAD.</a:t>
              </a:r>
            </a:p>
          </p:txBody>
        </p:sp>
        <p:sp>
          <p:nvSpPr>
            <p:cNvPr id="16" name="Rounded Rectangle 14">
              <a:extLst>
                <a:ext uri="{FF2B5EF4-FFF2-40B4-BE49-F238E27FC236}">
                  <a16:creationId xmlns:a16="http://schemas.microsoft.com/office/drawing/2014/main" id="{61F90CC9-A46D-9737-8EDB-503089A01E1A}"/>
                </a:ext>
              </a:extLst>
            </p:cNvPr>
            <p:cNvSpPr/>
            <p:nvPr/>
          </p:nvSpPr>
          <p:spPr>
            <a:xfrm>
              <a:off x="6419088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F9731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Trial 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FFE9962-C4BC-2889-5A9B-D12DDD6EA08C}"/>
                </a:ext>
              </a:extLst>
            </p:cNvPr>
            <p:cNvSpPr/>
            <p:nvPr/>
          </p:nvSpPr>
          <p:spPr>
            <a:xfrm>
              <a:off x="656539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F97316"/>
                  </a:solidFill>
                  <a:latin typeface="Calibri"/>
                </a:rPr>
                <a:t>3</a:t>
              </a:r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0C92EFF4-80CE-D689-79F7-163000BB9B69}"/>
                </a:ext>
              </a:extLst>
            </p:cNvPr>
            <p:cNvSpPr/>
            <p:nvPr/>
          </p:nvSpPr>
          <p:spPr>
            <a:xfrm>
              <a:off x="9208008" y="2697480"/>
              <a:ext cx="2468880" cy="2697480"/>
            </a:xfrm>
            <a:prstGeom prst="roundRect">
              <a:avLst>
                <a:gd name="adj" fmla="val 6000"/>
              </a:avLst>
            </a:prstGeom>
            <a:solidFill>
              <a:srgbClr val="CFF1E6"/>
            </a:solidFill>
            <a:ln w="19050">
              <a:solidFill>
                <a:srgbClr val="10B98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t"/>
            <a:lstStyle/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Array exposure → generation.</a:t>
              </a: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endParaRPr sz="1300" b="0">
                <a:solidFill>
                  <a:srgbClr val="333333"/>
                </a:solidFill>
                <a:latin typeface="Calibri"/>
              </a:endParaRPr>
            </a:p>
            <a:p>
              <a:pPr algn="l">
                <a:spcBef>
                  <a:spcPts val="0"/>
                </a:spcBef>
                <a:spcAft>
                  <a:spcPts val="600"/>
                </a:spcAft>
              </a:pPr>
              <a:r>
                <a:rPr sz="1300" b="0">
                  <a:solidFill>
                    <a:srgbClr val="333333"/>
                  </a:solidFill>
                  <a:latin typeface="Calibri"/>
                </a:rPr>
                <a:t>Feedback: SAD.</a:t>
              </a:r>
            </a:p>
          </p:txBody>
        </p:sp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C583E798-4ED3-FE8A-6CB3-BEB6E96CA72B}"/>
                </a:ext>
              </a:extLst>
            </p:cNvPr>
            <p:cNvSpPr/>
            <p:nvPr/>
          </p:nvSpPr>
          <p:spPr>
            <a:xfrm>
              <a:off x="9208008" y="2057400"/>
              <a:ext cx="2468880" cy="640080"/>
            </a:xfrm>
            <a:prstGeom prst="roundRect">
              <a:avLst>
                <a:gd name="adj" fmla="val 18000"/>
              </a:avLst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Trial 2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1FAC022-3352-9B3A-BC85-CE1AA1ED8B58}"/>
                </a:ext>
              </a:extLst>
            </p:cNvPr>
            <p:cNvSpPr/>
            <p:nvPr/>
          </p:nvSpPr>
          <p:spPr>
            <a:xfrm>
              <a:off x="9354312" y="2185416"/>
              <a:ext cx="384048" cy="3840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tIns="54864" rIns="109728" bIns="54864" rtlCol="0" anchor="ctr"/>
            <a:lstStyle/>
            <a:p>
              <a:pPr algn="ctr">
                <a:spcBef>
                  <a:spcPts val="0"/>
                </a:spcBef>
                <a:spcAft>
                  <a:spcPts val="400"/>
                </a:spcAft>
              </a:pPr>
              <a:r>
                <a:rPr sz="1500" b="1">
                  <a:solidFill>
                    <a:srgbClr val="10B981"/>
                  </a:solidFill>
                  <a:latin typeface="Calibri"/>
                </a:rPr>
                <a:t>4</a:t>
              </a:r>
            </a:p>
          </p:txBody>
        </p:sp>
        <p:sp>
          <p:nvSpPr>
            <p:cNvPr id="21" name="Right Arrow 19">
              <a:extLst>
                <a:ext uri="{FF2B5EF4-FFF2-40B4-BE49-F238E27FC236}">
                  <a16:creationId xmlns:a16="http://schemas.microsoft.com/office/drawing/2014/main" id="{BE7E08B2-A89A-102A-F4E4-7A43EF3C3AF9}"/>
                </a:ext>
              </a:extLst>
            </p:cNvPr>
            <p:cNvSpPr/>
            <p:nvPr/>
          </p:nvSpPr>
          <p:spPr>
            <a:xfrm>
              <a:off x="2994660" y="2880360"/>
              <a:ext cx="310896" cy="502920"/>
            </a:xfrm>
            <a:prstGeom prst="rightArrow">
              <a:avLst/>
            </a:prstGeom>
            <a:solidFill>
              <a:srgbClr val="B0B6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ight Arrow 20">
              <a:extLst>
                <a:ext uri="{FF2B5EF4-FFF2-40B4-BE49-F238E27FC236}">
                  <a16:creationId xmlns:a16="http://schemas.microsoft.com/office/drawing/2014/main" id="{0F37F58C-8822-B2C8-F2CF-97B6CAC436BC}"/>
                </a:ext>
              </a:extLst>
            </p:cNvPr>
            <p:cNvSpPr/>
            <p:nvPr/>
          </p:nvSpPr>
          <p:spPr>
            <a:xfrm>
              <a:off x="5897880" y="2880360"/>
              <a:ext cx="402336" cy="502920"/>
            </a:xfrm>
            <a:prstGeom prst="rightArrow">
              <a:avLst/>
            </a:prstGeom>
            <a:solidFill>
              <a:srgbClr val="B0B6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ight Arrow 21">
              <a:extLst>
                <a:ext uri="{FF2B5EF4-FFF2-40B4-BE49-F238E27FC236}">
                  <a16:creationId xmlns:a16="http://schemas.microsoft.com/office/drawing/2014/main" id="{988E7618-9839-66D7-BAE5-5E8A75171A95}"/>
                </a:ext>
              </a:extLst>
            </p:cNvPr>
            <p:cNvSpPr/>
            <p:nvPr/>
          </p:nvSpPr>
          <p:spPr>
            <a:xfrm>
              <a:off x="8892540" y="2880360"/>
              <a:ext cx="310896" cy="502920"/>
            </a:xfrm>
            <a:prstGeom prst="rightArrow">
              <a:avLst/>
            </a:prstGeom>
            <a:solidFill>
              <a:srgbClr val="B0B6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8394A9B-3946-834D-534D-F4856A73D030}"/>
              </a:ext>
            </a:extLst>
          </p:cNvPr>
          <p:cNvSpPr txBox="1"/>
          <p:nvPr/>
        </p:nvSpPr>
        <p:spPr>
          <a:xfrm>
            <a:off x="735346" y="6432770"/>
            <a:ext cx="1088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Following EXP’ participants completed a questionnaire about their strategies and understating of the task</a:t>
            </a:r>
          </a:p>
        </p:txBody>
      </p:sp>
    </p:spTree>
    <p:extLst>
      <p:ext uri="{BB962C8B-B14F-4D97-AF65-F5344CB8AC3E}">
        <p14:creationId xmlns:p14="http://schemas.microsoft.com/office/powerpoint/2010/main" val="244303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1F6A2-66A4-310B-955E-F52A18FD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F906-C70F-F164-0C97-EC3DDA20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L" dirty="0"/>
              <a:t>Research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775FCA-10DD-954C-C011-1DBDAB1BC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1387474"/>
            <a:ext cx="10515600" cy="52228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L" sz="1600" b="1" i="1" dirty="0"/>
              <a:t>Prior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What distribution do participants assign before seeing any visual information?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Does seeing the item shapes change the prior distribution?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Is the blind prior more uniform than expected by chance?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Is the proportion of Uniform-classified participants higher than expected under the null?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What distributional shapes do participants' priors take?</a:t>
            </a:r>
          </a:p>
          <a:p>
            <a:pPr marL="514350" indent="-514350">
              <a:buFont typeface="+mj-lt"/>
              <a:buAutoNum type="arabicPeriod"/>
            </a:pPr>
            <a:r>
              <a:rPr lang="en-IL" sz="1600" dirty="0"/>
              <a:t>Are the observed classification proportions different from chance? a. Per-category: is each category's proportion surprising? b. Combined: is the two-type dominance (Uniform + Unimodal-mild) surprising?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the first exposure improve estimates relative to the uninformed blind prior? (Blind vs T1)</a:t>
            </a:r>
            <a:endParaRPr lang="en-US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L" sz="1600" b="1" i="1" dirty="0"/>
              <a:t>Learning </a:t>
            </a:r>
            <a:endParaRPr lang="en-US" sz="1600" b="1" i="1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the first exposure shift estimates relative to the icon prior?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Is any observed change in the direction of the true distribution?</a:t>
            </a:r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a second exposure with feedback improve estimates beyond T1?</a:t>
            </a:r>
            <a:endParaRPr lang="en-US" sz="1600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What is the overall learning from blind to final estimate? (Blind vs T2)</a:t>
            </a:r>
            <a:endParaRPr lang="en-US" sz="1600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Does the two-exposure sequence improve estimates relative to the icon prior? (Icon vs T2)</a:t>
            </a:r>
            <a:endParaRPr lang="en-US" sz="1600" dirty="0"/>
          </a:p>
          <a:p>
            <a:pPr marL="514350" indent="-514350">
              <a:buFont typeface="+mj-lt"/>
              <a:buAutoNum type="arabicPeriod" startAt="10"/>
            </a:pPr>
            <a:r>
              <a:rPr lang="en-IL" sz="1600" dirty="0"/>
              <a:t>Is there a monotonic trend across all four phases? (Page's L)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27050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8C229-EE5A-4352-5155-FC8C4BD30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8CFC-03B8-CCBB-D3AF-99E2A15A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Prior</a:t>
            </a:r>
            <a:endParaRPr lang="en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A1B0A9-071D-2D04-7369-7A3B13620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360422"/>
              </p:ext>
            </p:extLst>
          </p:nvPr>
        </p:nvGraphicFramePr>
        <p:xfrm>
          <a:off x="505838" y="914400"/>
          <a:ext cx="11186811" cy="531743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42979">
                  <a:extLst>
                    <a:ext uri="{9D8B030D-6E8A-4147-A177-3AD203B41FA5}">
                      <a16:colId xmlns:a16="http://schemas.microsoft.com/office/drawing/2014/main" val="1504080175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3104138291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1424166505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692427536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120033000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2118956187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2470717899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1151235453"/>
                    </a:ext>
                  </a:extLst>
                </a:gridCol>
                <a:gridCol w="1242979">
                  <a:extLst>
                    <a:ext uri="{9D8B030D-6E8A-4147-A177-3AD203B41FA5}">
                      <a16:colId xmlns:a16="http://schemas.microsoft.com/office/drawing/2014/main" val="4277882777"/>
                    </a:ext>
                  </a:extLst>
                </a:gridCol>
              </a:tblGrid>
              <a:tr h="194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#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Question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Test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Fig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Metric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Sig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Effect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Answer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Slide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685191690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P1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What distribution do participants assign before seeing any visual information?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Descriptive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1</a:t>
                      </a:r>
                      <a:r>
                        <a:rPr lang="en-US" sz="1200" dirty="0"/>
                        <a:t> table</a:t>
                      </a:r>
                      <a:r>
                        <a:rPr lang="en-IL" sz="1200" dirty="0"/>
                        <a:t>, 2.1-2.2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SAD M=9.0 (SD=2.8), Mode=8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On average it's uniform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</a:t>
                      </a:r>
                      <a:r>
                        <a:rPr lang="he-IL" sz="1200" dirty="0"/>
                        <a:t>7</a:t>
                      </a:r>
                      <a:r>
                        <a:rPr lang="en-US" sz="1200" dirty="0"/>
                        <a:t> left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974104982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Is the blind prior more uniform than expected by chance?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Multinomial sim (100k, two-tailed)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2.9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 err="1"/>
                        <a:t>Obs</a:t>
                      </a:r>
                      <a:r>
                        <a:rPr lang="en-IL" sz="1200" dirty="0"/>
                        <a:t> SAD=2.73 vs null=4.65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p&lt;.001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Significantly more uniform than chance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</a:t>
                      </a:r>
                      <a:r>
                        <a:rPr lang="he-IL" sz="1200" dirty="0"/>
                        <a:t>7</a:t>
                      </a:r>
                      <a:endParaRPr lang="en-IL" sz="1200" dirty="0"/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4183627936"/>
                  </a:ext>
                </a:extLst>
              </a:tr>
              <a:tr h="767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P3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Uniform proportion by chance?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Monte Carlo sim (100k, two-tailed)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63% obs vs 29.5%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p&lt;.001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h=0.69 (M-L)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Uniform rate far </a:t>
                      </a:r>
                      <a:r>
                        <a:rPr lang="en-IL" sz="1200" dirty="0">
                          <a:solidFill>
                            <a:srgbClr val="00B050"/>
                          </a:solidFill>
                        </a:rPr>
                        <a:t>exceeds</a:t>
                      </a:r>
                      <a:r>
                        <a:rPr lang="en-IL" sz="1200" dirty="0"/>
                        <a:t> chance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#9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3058938073"/>
                  </a:ext>
                </a:extLst>
              </a:tr>
              <a:tr h="1198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What distributional shapes do participants' priors take?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Shape classification (5 refs)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2.3, 9.4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63% Uni (n=19), 33% UniMild (n=10), 3% Bimodal (n=1)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Two dominant types; 97% Uni+UniMild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#9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2669177365"/>
                  </a:ext>
                </a:extLst>
              </a:tr>
              <a:tr h="623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P5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the two-type dominance (Uniform + Unimodal-mild) surprising?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Monte Carlo top-2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97% vs 91.1%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p=.363 n.s.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NOT significant against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#9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761592886"/>
                  </a:ext>
                </a:extLst>
              </a:tr>
              <a:tr h="9108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P6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Is each category's observed proportion surprising? (Unimodal-mild)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Monte Carlo per-category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9.4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33% obs vs 61.7% null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p=.002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h=-0.58 (M-L)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Fewer UniMild; Uniform excess at its expense</a:t>
                      </a:r>
                    </a:p>
                  </a:txBody>
                  <a:tcPr marL="39921" marR="39921" marT="19960" marB="199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#9</a:t>
                      </a:r>
                    </a:p>
                  </a:txBody>
                  <a:tcPr marL="39921" marR="39921" marT="19960" marB="19960" anchor="ctr"/>
                </a:tc>
                <a:extLst>
                  <a:ext uri="{0D108BD9-81ED-4DB2-BD59-A6C34878D82A}">
                    <a16:rowId xmlns:a16="http://schemas.microsoft.com/office/drawing/2014/main" val="1666489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63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AC30-9290-8361-14E5-BD27DEF4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F926F-7559-BDB5-FC0C-F84EEC9C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Prior (icon type)</a:t>
            </a:r>
            <a:endParaRPr lang="en-I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264A296-3454-D288-3143-93D43E3322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592195"/>
              </p:ext>
            </p:extLst>
          </p:nvPr>
        </p:nvGraphicFramePr>
        <p:xfrm>
          <a:off x="466725" y="1795634"/>
          <a:ext cx="11477619" cy="4429937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75291">
                  <a:extLst>
                    <a:ext uri="{9D8B030D-6E8A-4147-A177-3AD203B41FA5}">
                      <a16:colId xmlns:a16="http://schemas.microsoft.com/office/drawing/2014/main" val="3461487244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1207397761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986169049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568590197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2341271834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865142246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1593382175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404890378"/>
                    </a:ext>
                  </a:extLst>
                </a:gridCol>
                <a:gridCol w="1275291">
                  <a:extLst>
                    <a:ext uri="{9D8B030D-6E8A-4147-A177-3AD203B41FA5}">
                      <a16:colId xmlns:a16="http://schemas.microsoft.com/office/drawing/2014/main" val="31784287"/>
                    </a:ext>
                  </a:extLst>
                </a:gridCol>
              </a:tblGrid>
              <a:tr h="220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#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Question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Test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Fig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Metric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Sig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Effect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Answer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Slide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153923360"/>
                  </a:ext>
                </a:extLst>
              </a:tr>
              <a:tr h="1046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P7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Does seeing the item shapes change the prior distribution?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Descriptive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1, 2.4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SAD M=7.9 (SD=2.4)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Slightly lower SAD than blind, near uniform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627105920"/>
                  </a:ext>
                </a:extLst>
              </a:tr>
              <a:tr h="1211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P2a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the icon prior also more uniform than expected by chance?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Multinomial sim (100k, two-tailed)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2.9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Icon SAD=3.20 vs null=4.65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p=.0002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Icon prior also significantly more uniform than chance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2944854445"/>
                  </a:ext>
                </a:extLst>
              </a:tr>
              <a:tr h="187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P2b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the blind-to-icon reduction significant?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+ Wilcoxon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2.4, 2.5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diff=1.13, W=17.5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p=.040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d=0.201 (small)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Seeing shapes significantly reduces SAD; 10 improved, 4 worsened, 16 no change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#10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439929720"/>
                  </a:ext>
                </a:extLst>
              </a:tr>
              <a:tr h="187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P2c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Does first exposure improve over uninformed blind prior? (Blind vs T1)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(two-sided)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3.1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 from v25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Fill Cliff's d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55080" marR="55080" marT="27540" marB="275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#11</a:t>
                      </a:r>
                    </a:p>
                  </a:txBody>
                  <a:tcPr marL="55080" marR="55080" marT="27540" marB="27540" anchor="ctr"/>
                </a:tc>
                <a:extLst>
                  <a:ext uri="{0D108BD9-81ED-4DB2-BD59-A6C34878D82A}">
                    <a16:rowId xmlns:a16="http://schemas.microsoft.com/office/drawing/2014/main" val="1710777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8309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EDFA-6A5C-46BF-0A54-89C662A7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20E02-299E-6AD3-446E-0C8E0C7E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Learning</a:t>
            </a:r>
            <a:endParaRPr lang="en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671DF2-EC77-5250-3C7B-35C5375E1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130539"/>
              </p:ext>
            </p:extLst>
          </p:nvPr>
        </p:nvGraphicFramePr>
        <p:xfrm>
          <a:off x="781051" y="1710752"/>
          <a:ext cx="11163294" cy="6398124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240366">
                  <a:extLst>
                    <a:ext uri="{9D8B030D-6E8A-4147-A177-3AD203B41FA5}">
                      <a16:colId xmlns:a16="http://schemas.microsoft.com/office/drawing/2014/main" val="3247403972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1389928812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631341707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516517388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2306130148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1085744302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364893429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070171113"/>
                    </a:ext>
                  </a:extLst>
                </a:gridCol>
                <a:gridCol w="1240366">
                  <a:extLst>
                    <a:ext uri="{9D8B030D-6E8A-4147-A177-3AD203B41FA5}">
                      <a16:colId xmlns:a16="http://schemas.microsoft.com/office/drawing/2014/main" val="350934067"/>
                    </a:ext>
                  </a:extLst>
                </a:gridCol>
              </a:tblGrid>
              <a:tr h="1381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#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Question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Test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Fig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Metric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Sig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Effect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Answer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Slide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541053054"/>
                  </a:ext>
                </a:extLst>
              </a:tr>
              <a:tr h="552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L1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Does the first exposure shift estimates relative to the icon prior?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(one-tailed)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diff=-0.20 (T1 slightly worse)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p=.696 n.s.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d=-0.097 (negl.)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 significant change from exposure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#11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2324177292"/>
                  </a:ext>
                </a:extLst>
              </a:tr>
              <a:tr h="552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L2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Is any observed change in the direction of [1,1,4,6]?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Direction counts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3.4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9 improved, 12 worsened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Roughly equal; no improvement signal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#11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3356248067"/>
                  </a:ext>
                </a:extLst>
              </a:tr>
              <a:tr h="96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L3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Does a second exposure with feedback improve estimates beyond T1?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(one-tailed)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3.1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diff=-0.40 (T2 worse)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p=.791 n.s.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d=-0.073 (negl.)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 significant change; 10 improved, 13 worsened, 7 no change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2303752243"/>
                  </a:ext>
                </a:extLst>
              </a:tr>
              <a:tr h="107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What is the overall learning from blind to final estimate?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+ Cliff's d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3.2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diff=0.53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p=.275 n.s.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d=0.043 (negl.)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No significant overall learning; 9 improved, 11 worsened, 10 no change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3489608699"/>
                  </a:ext>
                </a:extLst>
              </a:tr>
              <a:tr h="107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S2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Monotonic trend?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Page's L (two-tailed)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Z=-3.79 (SAD increasing)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p&lt;.001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Significant trend in WRONG direction (worsening); likely regression from low blind prior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306289150"/>
                  </a:ext>
                </a:extLst>
              </a:tr>
              <a:tr h="107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S3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Does two-exposure sequence improve over icon prior? (Icon vs T2)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Paired perm + Cliff's d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3.2b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 from v25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L" sz="1200"/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/>
                        <a:t>Fill</a:t>
                      </a:r>
                    </a:p>
                  </a:txBody>
                  <a:tcPr marL="34534" marR="34534" marT="17267" marB="172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200" dirty="0"/>
                        <a:t>#12</a:t>
                      </a:r>
                    </a:p>
                  </a:txBody>
                  <a:tcPr marL="34534" marR="34534" marT="17267" marB="17267" anchor="ctr"/>
                </a:tc>
                <a:extLst>
                  <a:ext uri="{0D108BD9-81ED-4DB2-BD59-A6C34878D82A}">
                    <a16:rowId xmlns:a16="http://schemas.microsoft.com/office/drawing/2014/main" val="1468850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04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FA6A-1950-83D0-4506-448C4F7C5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75"/>
            <a:ext cx="10515600" cy="1130299"/>
          </a:xfrm>
        </p:spPr>
        <p:txBody>
          <a:bodyPr>
            <a:normAutofit/>
          </a:bodyPr>
          <a:lstStyle/>
          <a:p>
            <a:pPr algn="ctr"/>
            <a:r>
              <a:rPr sz="2400" b="1"/>
              <a:t>Prior (P1-P2)</a:t>
            </a:r>
            <a:endParaRPr lang="en-IL" sz="6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9398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Blind prior estimates cluster near uniform [3,3,3,3].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Mean SAD from uniform = 2.73 (SD=2.8). Mode = 8 (= uniform SAD).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58939" y="911223"/>
            <a:ext cx="5394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Multinomial simulation (100k, two-tailed):</a:t>
            </a:r>
          </a:p>
          <a:p>
            <a:pPr algn="l"/>
            <a:endParaRPr lang="en-US" sz="1100" b="0" i="0" dirty="0">
              <a:solidFill>
                <a:srgbClr val="333333"/>
              </a:solidFill>
            </a:endParaRPr>
          </a:p>
          <a:p>
            <a:pPr algn="l"/>
            <a:r>
              <a:rPr lang="en-US" sz="1100" b="0" i="0" dirty="0">
                <a:solidFill>
                  <a:srgbClr val="333333"/>
                </a:solidFill>
              </a:rPr>
              <a:t>Prior - </a:t>
            </a:r>
            <a:r>
              <a:rPr sz="1100" b="0" i="0" dirty="0">
                <a:solidFill>
                  <a:srgbClr val="333333"/>
                </a:solidFill>
              </a:rPr>
              <a:t>Observed mean SAD </a:t>
            </a:r>
            <a:r>
              <a:rPr lang="en-IL" sz="1100" b="0" i="0" dirty="0">
                <a:solidFill>
                  <a:srgbClr val="333333"/>
                </a:solidFill>
              </a:rPr>
              <a:t>(2.73) </a:t>
            </a:r>
            <a:r>
              <a:rPr sz="1100" b="0" i="0" dirty="0">
                <a:solidFill>
                  <a:srgbClr val="333333"/>
                </a:solidFill>
              </a:rPr>
              <a:t>significantly lower than null (4.65), p &lt; .001.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2.9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023DC3-16FA-C8C3-0B83-F7666ADF0E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786" t="68750"/>
          <a:stretch>
            <a:fillRect/>
          </a:stretch>
        </p:blipFill>
        <p:spPr>
          <a:xfrm>
            <a:off x="6362699" y="1446369"/>
            <a:ext cx="5326381" cy="4393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2D1E5B-61B2-3F70-BA02-A5C1C66E13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59" t="5278" r="34326" b="64639"/>
          <a:stretch>
            <a:fillRect/>
          </a:stretch>
        </p:blipFill>
        <p:spPr>
          <a:xfrm>
            <a:off x="601979" y="1505039"/>
            <a:ext cx="5295901" cy="42048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CF5585-4EA1-6E6B-8486-013D1C1FE577}"/>
              </a:ext>
            </a:extLst>
          </p:cNvPr>
          <p:cNvSpPr txBox="1"/>
          <p:nvPr/>
        </p:nvSpPr>
        <p:spPr>
          <a:xfrm>
            <a:off x="670560" y="6004561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 i="0">
                <a:solidFill>
                  <a:srgbClr val="333333"/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IL" dirty="0">
                <a:solidFill>
                  <a:srgbClr val="FF0000"/>
                </a:solidFill>
              </a:rPr>
              <a:t>Item assignment in blind phase (panels 2.2, 2.4, 2.7, 2.8): Items are position-mapped. gen_est_item4 records the count typed into the position where the dominant shape will later appear. In the blind phase (</a:t>
            </a:r>
            <a:r>
              <a:rPr lang="en-IL" dirty="0" err="1">
                <a:solidFill>
                  <a:srgbClr val="FF0000"/>
                </a:solidFill>
              </a:rPr>
              <a:t>gray</a:t>
            </a:r>
            <a:r>
              <a:rPr lang="en-IL" dirty="0">
                <a:solidFill>
                  <a:srgbClr val="FF0000"/>
                </a:solidFill>
              </a:rPr>
              <a:t> squares), this is a chance baseline.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048EE-C171-B69C-BFAD-31475B4888EE}"/>
              </a:ext>
            </a:extLst>
          </p:cNvPr>
          <p:cNvSpPr txBox="1"/>
          <p:nvPr/>
        </p:nvSpPr>
        <p:spPr>
          <a:xfrm>
            <a:off x="6492240" y="583946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 i="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Also for Prior (icon) Observed mean SAD (3.2) significantly lower than null, p &lt; .001</a:t>
            </a:r>
          </a:p>
        </p:txBody>
      </p:sp>
    </p:spTree>
    <p:extLst>
      <p:ext uri="{BB962C8B-B14F-4D97-AF65-F5344CB8AC3E}">
        <p14:creationId xmlns:p14="http://schemas.microsoft.com/office/powerpoint/2010/main" val="512970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930E-D864-CA08-B595-B863F99E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8C05-F29B-25E8-5AB9-DAEFC039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875"/>
            <a:ext cx="10515600" cy="1130299"/>
          </a:xfrm>
        </p:spPr>
        <p:txBody>
          <a:bodyPr>
            <a:normAutofit/>
          </a:bodyPr>
          <a:lstStyle/>
          <a:p>
            <a:pPr algn="ctr"/>
            <a:r>
              <a:rPr sz="2400" b="1"/>
              <a:t>Prior (P1-P2)</a:t>
            </a:r>
            <a:endParaRPr lang="en-IL" sz="6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2546C7-3BF8-45A3-E77C-1FD55A626ACB}"/>
              </a:ext>
            </a:extLst>
          </p:cNvPr>
          <p:cNvSpPr txBox="1"/>
          <p:nvPr/>
        </p:nvSpPr>
        <p:spPr>
          <a:xfrm>
            <a:off x="502920" y="939800"/>
            <a:ext cx="5394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0" i="0" dirty="0">
                <a:solidFill>
                  <a:srgbClr val="333333"/>
                </a:solidFill>
              </a:rPr>
              <a:t>B</a:t>
            </a:r>
            <a:r>
              <a:rPr lang="en-US" sz="3600" dirty="0">
                <a:solidFill>
                  <a:srgbClr val="333333"/>
                </a:solidFill>
              </a:rPr>
              <a:t>efore </a:t>
            </a:r>
            <a:r>
              <a:rPr lang="en-US" sz="3600" dirty="0">
                <a:solidFill>
                  <a:srgbClr val="333333"/>
                </a:solidFill>
                <a:sym typeface="Wingdings" panose="05000000000000000000" pitchFamily="2" charset="2"/>
              </a:rPr>
              <a:t></a:t>
            </a:r>
            <a:endParaRPr sz="3600" b="0" i="0" dirty="0">
              <a:solidFill>
                <a:srgbClr val="333333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07506D-4BFD-6BBA-9F3E-1E82C683C6F3}"/>
              </a:ext>
            </a:extLst>
          </p:cNvPr>
          <p:cNvSpPr/>
          <p:nvPr/>
        </p:nvSpPr>
        <p:spPr>
          <a:xfrm>
            <a:off x="64008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A1BDC-6CE8-893C-23B0-5BD9E193DA12}"/>
              </a:ext>
            </a:extLst>
          </p:cNvPr>
          <p:cNvSpPr txBox="1"/>
          <p:nvPr/>
        </p:nvSpPr>
        <p:spPr>
          <a:xfrm>
            <a:off x="6758939" y="911223"/>
            <a:ext cx="53949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Multinomial simulation (100k, two-tailed):</a:t>
            </a:r>
          </a:p>
          <a:p>
            <a:pPr algn="l"/>
            <a:endParaRPr lang="en-US" sz="1100" b="0" i="0" dirty="0">
              <a:solidFill>
                <a:srgbClr val="333333"/>
              </a:solidFill>
            </a:endParaRPr>
          </a:p>
          <a:p>
            <a:pPr algn="l"/>
            <a:r>
              <a:rPr lang="en-US" sz="1100" b="0" i="0" dirty="0">
                <a:solidFill>
                  <a:srgbClr val="333333"/>
                </a:solidFill>
              </a:rPr>
              <a:t>Prior - </a:t>
            </a:r>
            <a:r>
              <a:rPr sz="1100" b="0" i="0" dirty="0">
                <a:solidFill>
                  <a:srgbClr val="333333"/>
                </a:solidFill>
              </a:rPr>
              <a:t>Observed mean SAD </a:t>
            </a:r>
            <a:r>
              <a:rPr lang="en-IL" sz="1100" b="0" i="0" dirty="0">
                <a:solidFill>
                  <a:srgbClr val="333333"/>
                </a:solidFill>
              </a:rPr>
              <a:t>(2.73) </a:t>
            </a:r>
            <a:r>
              <a:rPr sz="1100" b="0" i="0" dirty="0">
                <a:solidFill>
                  <a:srgbClr val="333333"/>
                </a:solidFill>
              </a:rPr>
              <a:t>significantly lower than null (4.65), p &lt; .001.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062965-4422-1160-626C-6EA00BD59639}"/>
              </a:ext>
            </a:extLst>
          </p:cNvPr>
          <p:cNvSpPr/>
          <p:nvPr/>
        </p:nvSpPr>
        <p:spPr>
          <a:xfrm>
            <a:off x="649224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D967C-8E9F-B6A5-4D20-3B8BA17C7A0F}"/>
              </a:ext>
            </a:extLst>
          </p:cNvPr>
          <p:cNvSpPr txBox="1"/>
          <p:nvPr/>
        </p:nvSpPr>
        <p:spPr>
          <a:xfrm>
            <a:off x="670560" y="6004561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 i="0">
                <a:solidFill>
                  <a:srgbClr val="333333"/>
                </a:solidFill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Q: </a:t>
            </a:r>
            <a:r>
              <a:rPr lang="en-IL" dirty="0">
                <a:solidFill>
                  <a:srgbClr val="FF0000"/>
                </a:solidFill>
              </a:rPr>
              <a:t>Item assignment in blind phase (panels 2.2, 2.4, 2.7, 2.8): Items are position-mapped. gen_est_item4 records the count typed into the position where the dominant shape will later appear. In the blind phase (</a:t>
            </a:r>
            <a:r>
              <a:rPr lang="en-IL" dirty="0" err="1">
                <a:solidFill>
                  <a:srgbClr val="FF0000"/>
                </a:solidFill>
              </a:rPr>
              <a:t>gray</a:t>
            </a:r>
            <a:r>
              <a:rPr lang="en-IL" dirty="0">
                <a:solidFill>
                  <a:srgbClr val="FF0000"/>
                </a:solidFill>
              </a:rPr>
              <a:t> squares), this is a chance baseline.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en-IL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BA6B8-189E-FF13-373D-4AA799A3CD76}"/>
              </a:ext>
            </a:extLst>
          </p:cNvPr>
          <p:cNvSpPr txBox="1"/>
          <p:nvPr/>
        </p:nvSpPr>
        <p:spPr>
          <a:xfrm>
            <a:off x="6492240" y="5839460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 i="0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Also for Prior (icon) Observed mean SAD (3.2) significantly lower than null, p &lt; .001</a:t>
            </a:r>
          </a:p>
        </p:txBody>
      </p:sp>
    </p:spTree>
    <p:extLst>
      <p:ext uri="{BB962C8B-B14F-4D97-AF65-F5344CB8AC3E}">
        <p14:creationId xmlns:p14="http://schemas.microsoft.com/office/powerpoint/2010/main" val="4191798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11D779C-65F6-A9EE-423B-104E1E62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8599-1C43-0B70-5A04-4A058AB9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177" y="324580"/>
            <a:ext cx="11068050" cy="1130299"/>
          </a:xfrm>
        </p:spPr>
        <p:txBody>
          <a:bodyPr>
            <a:noAutofit/>
          </a:bodyPr>
          <a:lstStyle/>
          <a:p>
            <a:pPr algn="ctr"/>
            <a:r>
              <a:rPr sz="2400" b="1"/>
              <a:t>Prior: Classification Method</a:t>
            </a:r>
            <a:endParaRPr lang="en-IL" sz="5400" b="1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097733"/>
              </p:ext>
            </p:extLst>
          </p:nvPr>
        </p:nvGraphicFramePr>
        <p:xfrm>
          <a:off x="457200" y="1371600"/>
          <a:ext cx="6583680" cy="32918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Sorted 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Character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Uniform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[3,3,3,3]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Flat, no differentiation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Unimodal-mild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[1,2,3,6]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One moderate peak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</a:rPr>
                        <a:t>Unimodal-extreme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[0,1,2,9]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One strong peak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Bimodal-symmetric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[1,1,5,5]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Two equal peaks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J-shaped (True)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</a:rPr>
                        <a:t>[1,1,4,6]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333333"/>
                          </a:solidFill>
                        </a:rPr>
                        <a:t>Matches true distribution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4630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Each participant's blind response is sorted ascending.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The sorted vector is compared via SAD to 5 reference distributions.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Classified as the reference with minimum SAD.</a:t>
            </a:r>
          </a:p>
          <a:p>
            <a:pPr algn="l"/>
            <a:r>
              <a:rPr sz="1200" b="0" i="0">
                <a:solidFill>
                  <a:srgbClr val="333333"/>
                </a:solidFill>
              </a:rPr>
              <a:t>Ties broken by chi-square distance.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08080"/>
                </a:solidFill>
              </a:rPr>
              <a:t>'Uniform' means no meaningful differentiation (includes [2,3,3,4], [2,2,4,4], [3,3,3,3]), not literally equal counts.</a:t>
            </a:r>
          </a:p>
        </p:txBody>
      </p:sp>
    </p:spTree>
    <p:extLst>
      <p:ext uri="{BB962C8B-B14F-4D97-AF65-F5344CB8AC3E}">
        <p14:creationId xmlns:p14="http://schemas.microsoft.com/office/powerpoint/2010/main" val="3036267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-182563"/>
            <a:ext cx="10515600" cy="1325563"/>
          </a:xfrm>
        </p:spPr>
        <p:txBody>
          <a:bodyPr/>
          <a:lstStyle/>
          <a:p>
            <a:r>
              <a:rPr sz="2400" b="1" dirty="0"/>
              <a:t>Prior: Classification Results (P3-P6)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4300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63% (n=19) Uniform, 33% (n=10) Unimodal-mild, 3% (n=1) Bimodal.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Only 2 of 5 possible prior types observed.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143000"/>
            <a:ext cx="53949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Monte Carlo significance (100k, same classifier):</a:t>
            </a:r>
          </a:p>
          <a:p>
            <a:r>
              <a:rPr sz="1100" b="0" i="0" dirty="0">
                <a:solidFill>
                  <a:srgbClr val="333333"/>
                </a:solidFill>
              </a:rPr>
              <a:t>Uniform: 63% vs 29.5% null, p&lt;.001, h=0.69.</a:t>
            </a:r>
            <a:r>
              <a:rPr lang="en-US" sz="1100" b="0" i="0" dirty="0">
                <a:solidFill>
                  <a:srgbClr val="333333"/>
                </a:solidFill>
              </a:rPr>
              <a:t> </a:t>
            </a:r>
            <a:r>
              <a:rPr lang="en-IL" sz="1100" dirty="0">
                <a:solidFill>
                  <a:srgbClr val="000000"/>
                </a:solidFill>
                <a:latin typeface="Aptos" panose="020B0004020202020204" pitchFamily="34" charset="0"/>
              </a:rPr>
              <a:t>), indicating that participants' tendency toward </a:t>
            </a:r>
            <a:r>
              <a:rPr lang="en-IL" sz="1100" dirty="0" err="1">
                <a:solidFill>
                  <a:srgbClr val="000000"/>
                </a:solidFill>
                <a:latin typeface="Aptos" panose="020B0004020202020204" pitchFamily="34" charset="0"/>
              </a:rPr>
              <a:t>equi</a:t>
            </a:r>
            <a:r>
              <a:rPr lang="en-IL" sz="1100" dirty="0">
                <a:solidFill>
                  <a:srgbClr val="000000"/>
                </a:solidFill>
                <a:latin typeface="Aptos" panose="020B0004020202020204" pitchFamily="34" charset="0"/>
              </a:rPr>
              <a:t>-distribution is not an artifact of multinomial sampling noise.</a:t>
            </a:r>
            <a:endParaRPr sz="1100" b="0" i="0" dirty="0">
              <a:solidFill>
                <a:srgbClr val="333333"/>
              </a:solidFill>
            </a:endParaRP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Unimodal-mild: 33% vs 61.7% null, p=.002, h=-0.58.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Combined: 97% vs 91.1%, p=.363 </a:t>
            </a:r>
            <a:r>
              <a:rPr sz="1100" b="0" i="0" dirty="0" err="1">
                <a:solidFill>
                  <a:srgbClr val="333333"/>
                </a:solidFill>
              </a:rPr>
              <a:t>n.s</a:t>
            </a:r>
            <a:r>
              <a:rPr sz="1100" b="0" i="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2606040"/>
            <a:ext cx="5029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9.4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1D88BF-B7BB-7325-FE13-56CC3017E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13" t="4259" b="63333"/>
          <a:stretch>
            <a:fillRect/>
          </a:stretch>
        </p:blipFill>
        <p:spPr>
          <a:xfrm>
            <a:off x="358965" y="2065456"/>
            <a:ext cx="5356035" cy="45558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DB7344-9BA8-D1D1-E1E4-D7F90B72E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53122"/>
          <a:stretch>
            <a:fillRect/>
          </a:stretch>
        </p:blipFill>
        <p:spPr>
          <a:xfrm>
            <a:off x="5897880" y="2199278"/>
            <a:ext cx="6159531" cy="4288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70AE0-F8D2-C1FA-9799-53AE3DE6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55E6-7F4D-0578-8725-6660961E9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100"/>
            <a:ext cx="10515600" cy="1130299"/>
          </a:xfrm>
        </p:spPr>
        <p:txBody>
          <a:bodyPr>
            <a:noAutofit/>
          </a:bodyPr>
          <a:lstStyle/>
          <a:p>
            <a:pPr algn="ctr"/>
            <a:r>
              <a:rPr sz="2400" b="1"/>
              <a:t>Icon Prior (P7, P2a, P2b)</a:t>
            </a:r>
            <a:endParaRPr lang="en-IL" sz="5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33"/>
                </a:solidFill>
              </a:rPr>
              <a:t>Icon prior SAD (M=7.9) lower than blind (M=9.0).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Icon also more uniform than chance (SAD=3.20 vs null=4.65, p=.0002).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Blind-to-Icon reduction significant: diff=1.13, p=.040, d=0.201 (small)</a:t>
            </a:r>
            <a:r>
              <a:rPr lang="en-IL" sz="1100" b="0" i="0" dirty="0">
                <a:solidFill>
                  <a:srgbClr val="333333"/>
                </a:solidFill>
              </a:rPr>
              <a:t>.</a:t>
            </a:r>
          </a:p>
          <a:p>
            <a:pPr algn="l"/>
            <a:r>
              <a:rPr sz="1100" b="0" i="0" dirty="0">
                <a:solidFill>
                  <a:srgbClr val="333333"/>
                </a:solidFill>
              </a:rPr>
              <a:t>Blind to T1 (combined effect): Fill diff, Fill p, Fill Cliff's d from v25.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3108960"/>
            <a:ext cx="7040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2.4 / 2.5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772E0-3E0D-C07A-337F-17B6983985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50" r="33752" b="32084"/>
          <a:stretch>
            <a:fillRect/>
          </a:stretch>
        </p:blipFill>
        <p:spPr>
          <a:xfrm>
            <a:off x="419100" y="1889500"/>
            <a:ext cx="11674576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53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Learning: First Exposure (L1-L2)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First exposure (Icon to T1) produced no significant change.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SAD diff=-0.20, p=.696, d=-0.097 (negligible).</a:t>
            </a:r>
          </a:p>
          <a:p>
            <a:pPr algn="l"/>
            <a:r>
              <a:rPr sz="1100" b="0" i="0">
                <a:solidFill>
                  <a:srgbClr val="333333"/>
                </a:solidFill>
              </a:rPr>
              <a:t>Direction: 9 improved, 12 worsened.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651760"/>
            <a:ext cx="6675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3.1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CE47B4-358A-43B0-96D5-4DEC9340A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8" r="66599" b="48611"/>
          <a:stretch>
            <a:fillRect/>
          </a:stretch>
        </p:blipFill>
        <p:spPr>
          <a:xfrm>
            <a:off x="3571875" y="1634622"/>
            <a:ext cx="5295900" cy="48576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Learning: T1-T2 and Overall (L3, S1, S2)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2492" y="1268730"/>
            <a:ext cx="438530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333333"/>
                </a:solidFill>
              </a:defRPr>
            </a:lvl1pPr>
          </a:lstStyle>
          <a:p>
            <a:r>
              <a:rPr dirty="0"/>
              <a:t>T1 to T2: diff=-0.40, p=.791, d=-0.073 (</a:t>
            </a:r>
            <a:r>
              <a:rPr dirty="0" err="1"/>
              <a:t>n.s</a:t>
            </a:r>
            <a:r>
              <a:rPr dirty="0"/>
              <a:t>.).</a:t>
            </a:r>
          </a:p>
          <a:p>
            <a:r>
              <a:rPr dirty="0"/>
              <a:t>Overall Blind to T2: diff=0.53, p=.275, d=0.04 (negligible).</a:t>
            </a:r>
          </a:p>
          <a:p>
            <a:r>
              <a:rPr dirty="0"/>
              <a:t>Direction: 9 improved, 11 worsened, 10 no change.</a:t>
            </a:r>
          </a:p>
          <a:p>
            <a:r>
              <a:rPr dirty="0"/>
              <a:t>Icon to T2 (exposure learning): Fill diff, Fill p, Fill Cliff's d from v25.</a:t>
            </a:r>
          </a:p>
          <a:p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3.2 / 3.2b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338328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>
                <a:solidFill>
                  <a:srgbClr val="808080"/>
                </a:solidFill>
              </a:rPr>
              <a:t>Fig 3.4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962CF-018B-78CE-88A4-B30603A29053}"/>
              </a:ext>
            </a:extLst>
          </p:cNvPr>
          <p:cNvSpPr txBox="1"/>
          <p:nvPr/>
        </p:nvSpPr>
        <p:spPr>
          <a:xfrm>
            <a:off x="6477000" y="169068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dirty="0">
                <a:solidFill>
                  <a:srgbClr val="333333"/>
                </a:solidFill>
              </a:rPr>
              <a:t>Page's trend (two-tailed): Z=-3.79, p&lt;.001.</a:t>
            </a:r>
          </a:p>
          <a:p>
            <a:pPr algn="l"/>
            <a:r>
              <a:rPr lang="en-US" sz="1800" b="0" i="0" dirty="0">
                <a:solidFill>
                  <a:srgbClr val="333333"/>
                </a:solidFill>
              </a:rPr>
              <a:t>Significant but in WRONG direction (SAD increasing).</a:t>
            </a:r>
          </a:p>
          <a:p>
            <a:pPr algn="l"/>
            <a:r>
              <a:rPr lang="en-US" sz="1800" b="0" i="0" dirty="0">
                <a:solidFill>
                  <a:srgbClr val="333333"/>
                </a:solidFill>
              </a:rPr>
              <a:t>Likely regression from low blind prior.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92B5F8-70CE-F9AB-139B-ACC2D6CB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685" t="6944" r="33211" b="49028"/>
          <a:stretch>
            <a:fillRect/>
          </a:stretch>
        </p:blipFill>
        <p:spPr>
          <a:xfrm>
            <a:off x="1629727" y="3472815"/>
            <a:ext cx="3324225" cy="301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F5DB8B-DC95-FB5F-1B26-22034BBC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76" t="52155" r="66400" b="-409"/>
          <a:stretch>
            <a:fillRect/>
          </a:stretch>
        </p:blipFill>
        <p:spPr>
          <a:xfrm>
            <a:off x="7370536" y="2920505"/>
            <a:ext cx="4059463" cy="39374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C247-D905-A7DC-296A-7E854C638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4E1B8-A805-5BAF-C038-7BF16F7E5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100"/>
            <a:ext cx="10515600" cy="1130299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/>
              <a:t>Summary</a:t>
            </a:r>
            <a:endParaRPr lang="en-IL" sz="54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59B10-6652-2125-D7E6-3D4EC92DF3AE}"/>
              </a:ext>
            </a:extLst>
          </p:cNvPr>
          <p:cNvSpPr txBox="1">
            <a:spLocks/>
          </p:cNvSpPr>
          <p:nvPr/>
        </p:nvSpPr>
        <p:spPr>
          <a:xfrm>
            <a:off x="838200" y="746125"/>
            <a:ext cx="10515600" cy="1130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C81B26-B4FA-D67D-EF4D-81CDFA8EE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718893"/>
              </p:ext>
            </p:extLst>
          </p:nvPr>
        </p:nvGraphicFramePr>
        <p:xfrm>
          <a:off x="1375209" y="1825625"/>
          <a:ext cx="9441582" cy="4926043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147194">
                  <a:extLst>
                    <a:ext uri="{9D8B030D-6E8A-4147-A177-3AD203B41FA5}">
                      <a16:colId xmlns:a16="http://schemas.microsoft.com/office/drawing/2014/main" val="1433959730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1915200596"/>
                    </a:ext>
                  </a:extLst>
                </a:gridCol>
                <a:gridCol w="3147194">
                  <a:extLst>
                    <a:ext uri="{9D8B030D-6E8A-4147-A177-3AD203B41FA5}">
                      <a16:colId xmlns:a16="http://schemas.microsoft.com/office/drawing/2014/main" val="1254596183"/>
                    </a:ext>
                  </a:extLst>
                </a:gridCol>
              </a:tblGrid>
              <a:tr h="3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Finding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/>
                        <a:t>Statistic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b="1" dirty="0"/>
                        <a:t>Conclusion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74826152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Blind prior is uniform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SAD obs=2.73 vs null=4.65, p&lt;.001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Strong uniform prior, not chance artifact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682914415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63% classified Uniform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63% vs 29.5% null, p&lt;.001, h=0.69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Active equi-distribution tendency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007734487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Unimodal-mild deficit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33% vs 61.7% null, p=.002, h=-0.58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Uniform excess at expense of unimodal-mild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1159349033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Icon prior also uniform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Icon SAD=3.20 vs null=4.65, p=.0002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Still uniform after seeing shapes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91788682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Blind vs Icon significant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diff=1.13, p=.040, d=0.201 (small)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Seeing shapes slightly reduces SAD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320202329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No significant learning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Blind-to-T2: p=.275, d=0.04 (negl.)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Two exposures + SAD feedback insufficient at N=30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377103361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Significant worsening trend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Page Z=-3.79, p&lt;.001 (SAD increasing)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Likely regression from low blind prior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552605100"/>
                  </a:ext>
                </a:extLst>
              </a:tr>
              <a:tr h="574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Icon to T2 (exposure learning)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/>
                        <a:t>Fill from v25</a:t>
                      </a:r>
                    </a:p>
                  </a:txBody>
                  <a:tcPr marL="82101" marR="82101" marT="41050" marB="410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L" sz="1600" dirty="0"/>
                        <a:t>Fill</a:t>
                      </a:r>
                    </a:p>
                  </a:txBody>
                  <a:tcPr marL="82101" marR="82101" marT="41050" marB="41050" anchor="ctr"/>
                </a:tc>
                <a:extLst>
                  <a:ext uri="{0D108BD9-81ED-4DB2-BD59-A6C34878D82A}">
                    <a16:rowId xmlns:a16="http://schemas.microsoft.com/office/drawing/2014/main" val="2333787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1219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11480</TotalTime>
  <Words>1927</Words>
  <Application>Microsoft Office PowerPoint</Application>
  <PresentationFormat>Widescreen</PresentationFormat>
  <Paragraphs>309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Presentation</vt:lpstr>
      <vt:lpstr>Distributional Reinforcement Learning   Prior + One-shot Learning</vt:lpstr>
      <vt:lpstr>EXP design:   </vt:lpstr>
      <vt:lpstr>Research Questions</vt:lpstr>
      <vt:lpstr>Prior</vt:lpstr>
      <vt:lpstr>Prior (icon type)</vt:lpstr>
      <vt:lpstr>Learning</vt:lpstr>
      <vt:lpstr>Prior (P1-P2)</vt:lpstr>
      <vt:lpstr>Prior (P1-P2)</vt:lpstr>
      <vt:lpstr>Prior: Classification Method</vt:lpstr>
      <vt:lpstr>Prior: Classification Results (P3-P6)</vt:lpstr>
      <vt:lpstr>Icon Prior (P7, P2a, P2b)</vt:lpstr>
      <vt:lpstr>Learning: First Exposure (L1-L2)</vt:lpstr>
      <vt:lpstr>Learning: T1-T2 and Overall (L3, S1, S2)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Yoel Shilat</dc:creator>
  <cp:lastModifiedBy>Yoel Shilat</cp:lastModifiedBy>
  <cp:revision>20</cp:revision>
  <dcterms:created xsi:type="dcterms:W3CDTF">2026-05-13T08:55:14Z</dcterms:created>
  <dcterms:modified xsi:type="dcterms:W3CDTF">2026-06-03T13:51:59Z</dcterms:modified>
</cp:coreProperties>
</file>